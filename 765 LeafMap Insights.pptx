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3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9295-42E1-CA09-44D0-BF34EAB75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B3642-E9FC-DBF4-E13B-956F6895E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E77A1-6F60-2544-CEAC-CA9C7335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B0858-F815-9B6A-121C-35545CFC7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3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923925"/>
            <a:ext cx="7638008" cy="1257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LeafMap Insights:
Дигитализация и управление
на градската флора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57225" y="2552700"/>
            <a:ext cx="6988373" cy="99432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10"/>
              </a:lnSpc>
              <a:buNone/>
            </a:pPr>
            <a:r>
              <a:rPr lang="en-US" sz="2175" dirty="0">
                <a:solidFill>
                  <a:srgbClr val="6D5B4F"/>
                </a:solidFill>
                <a:latin typeface="Merriweather Sans" pitchFamily="34" charset="0"/>
                <a:ea typeface="Merriweather Sans" pitchFamily="34" charset="-122"/>
                <a:cs typeface="Merriweather Sans" pitchFamily="34" charset="-120"/>
              </a:rPr>
              <a:t>Разпределена информационна система за
катализиране на дървета с GPS
позициониране и ботаническа таксономия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657225" y="5372100"/>
            <a:ext cx="5563493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Тихомир Георгиев Петков
Мариан Петров Балев
XII клас, ПГ „Ген. 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Владимир</a:t>
            </a: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За</a:t>
            </a:r>
            <a:r>
              <a:rPr lang="bg-BG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мов</a:t>
            </a: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“ – гр. Сопот
Ръководител: Тоня Христова Белезирева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7225" y="4095750"/>
            <a:ext cx="7658993" cy="7201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333333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ПРОЕКТ 765
НАЦИОНАЛНА ОЛИМПИАДА ПО ИНФОРМАЦИОННИ ТЕХНОЛОГИИ
НАПРАВЛЕНИЕ: РАЗПРЕДЕЛЕНИ ПРИЛОЖЕНИЯ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8531423" y="6153150"/>
            <a:ext cx="3124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9E9E9E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2026 година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855" y="4320480"/>
            <a:ext cx="3413671" cy="211901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3" y="5602932"/>
            <a:ext cx="560784" cy="644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4608463"/>
            <a:ext cx="755898" cy="6651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80" y="3518148"/>
            <a:ext cx="767953" cy="71318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675" y="2530525"/>
            <a:ext cx="511969" cy="61034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74752" y="466725"/>
            <a:ext cx="12355830" cy="5774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47"/>
              </a:lnSpc>
              <a:buNone/>
            </a:pPr>
            <a:r>
              <a:rPr lang="en-US" sz="3525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Основни цели на проекта</a:t>
            </a:r>
            <a:endParaRPr lang="en-US" sz="3525" dirty="0"/>
          </a:p>
        </p:txBody>
      </p:sp>
      <p:sp>
        <p:nvSpPr>
          <p:cNvPr id="9" name="Text 1"/>
          <p:cNvSpPr/>
          <p:nvPr/>
        </p:nvSpPr>
        <p:spPr>
          <a:xfrm>
            <a:off x="1504950" y="2524125"/>
            <a:ext cx="8968740" cy="270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1. Централизиран контрол на данните</a:t>
            </a:r>
            <a:endParaRPr lang="en-US" sz="1650" dirty="0"/>
          </a:p>
        </p:txBody>
      </p:sp>
      <p:sp>
        <p:nvSpPr>
          <p:cNvPr id="10" name="Text 2"/>
          <p:cNvSpPr/>
          <p:nvPr/>
        </p:nvSpPr>
        <p:spPr>
          <a:xfrm>
            <a:off x="1504950" y="3467100"/>
            <a:ext cx="6747510" cy="282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2. Многоплатформен достъп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1504950" y="4638675"/>
            <a:ext cx="9220200" cy="270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3. Йерархична ботаническа таксономия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1504950" y="5581650"/>
            <a:ext cx="9113520" cy="2826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4. Сигурност чрез JWT автентикация</a:t>
            </a:r>
            <a:endParaRPr lang="en-US" sz="1725" dirty="0"/>
          </a:p>
        </p:txBody>
      </p:sp>
      <p:sp>
        <p:nvSpPr>
          <p:cNvPr id="13" name="Text 5"/>
          <p:cNvSpPr/>
          <p:nvPr/>
        </p:nvSpPr>
        <p:spPr>
          <a:xfrm>
            <a:off x="7477125" y="2571750"/>
            <a:ext cx="7795260" cy="249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114B2D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Научна и образователна стойност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1295400" y="2924175"/>
            <a:ext cx="12047220" cy="208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Backend API като единствен източник на данни за всички клиенти</a:t>
            </a:r>
            <a:endParaRPr lang="en-US" sz="1275" dirty="0"/>
          </a:p>
        </p:txBody>
      </p:sp>
      <p:sp>
        <p:nvSpPr>
          <p:cNvPr id="15" name="Text 7"/>
          <p:cNvSpPr/>
          <p:nvPr/>
        </p:nvSpPr>
        <p:spPr>
          <a:xfrm>
            <a:off x="1504950" y="3867150"/>
            <a:ext cx="6034980" cy="3854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Web браузър и мобилни приложения с единно потребителско
изживяване</a:t>
            </a:r>
            <a:endParaRPr lang="en-US" sz="1275" dirty="0"/>
          </a:p>
        </p:txBody>
      </p:sp>
      <p:sp>
        <p:nvSpPr>
          <p:cNvPr id="16" name="Text 8"/>
          <p:cNvSpPr/>
          <p:nvPr/>
        </p:nvSpPr>
        <p:spPr>
          <a:xfrm>
            <a:off x="1504950" y="5038725"/>
            <a:ext cx="13018770" cy="208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Систематизирано класифициране: Отдел → Клас → Семейство → Род → Вид</a:t>
            </a:r>
            <a:endParaRPr lang="en-US" sz="1275" dirty="0"/>
          </a:p>
        </p:txBody>
      </p:sp>
      <p:sp>
        <p:nvSpPr>
          <p:cNvPr id="17" name="Text 9"/>
          <p:cNvSpPr/>
          <p:nvPr/>
        </p:nvSpPr>
        <p:spPr>
          <a:xfrm>
            <a:off x="1504950" y="5981700"/>
            <a:ext cx="9715500" cy="2089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Защитени операции с ролево управление (User/Admin)</a:t>
            </a:r>
            <a:endParaRPr lang="en-US" sz="1275" dirty="0"/>
          </a:p>
        </p:txBody>
      </p:sp>
      <p:sp>
        <p:nvSpPr>
          <p:cNvPr id="18" name="Text 10"/>
          <p:cNvSpPr/>
          <p:nvPr/>
        </p:nvSpPr>
        <p:spPr>
          <a:xfrm>
            <a:off x="7581900" y="2924175"/>
            <a:ext cx="4840486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4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• Подпомага научни изследвания в ботаниката
• Образователни програми за растителни видове
• Мониторинг на популациите дървета
• Публично разпространение на знания</a:t>
            </a:r>
            <a:endParaRPr lang="en-US" sz="1275" dirty="0"/>
          </a:p>
        </p:txBody>
      </p:sp>
      <p:sp>
        <p:nvSpPr>
          <p:cNvPr id="19" name="Text 11"/>
          <p:cNvSpPr/>
          <p:nvPr/>
        </p:nvSpPr>
        <p:spPr>
          <a:xfrm>
            <a:off x="1104900" y="1381125"/>
            <a:ext cx="10030862" cy="46702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38"/>
              </a:lnSpc>
              <a:buNone/>
            </a:pPr>
            <a:r>
              <a:rPr lang="en-US" sz="1425" i="1" dirty="0">
                <a:solidFill>
                  <a:srgbClr val="000000"/>
                </a:solidFill>
                <a:latin typeface="Montserrat Regular" pitchFamily="34" charset="0"/>
                <a:ea typeface="Montserrat Regular" pitchFamily="34" charset="-122"/>
                <a:cs typeface="Montserrat Regular" pitchFamily="34" charset="-120"/>
              </a:rPr>
              <a:t>"Ние, учениците на „Заимов“, прекарваме значителна част от свободното си време в училищния парк.
Създаден през 80-те години на миналия век, паркът е неразделна част от училищния ни живот."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969" y="1803648"/>
            <a:ext cx="6559153" cy="44096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230645" y="419100"/>
            <a:ext cx="14813280" cy="740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832"/>
              </a:lnSpc>
              <a:buNone/>
            </a:pPr>
            <a:r>
              <a:rPr lang="en-US" sz="4050" b="1" dirty="0">
                <a:solidFill>
                  <a:srgbClr val="104A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Архитектура на системата</a:t>
            </a:r>
            <a:endParaRPr lang="en-US" sz="4050" dirty="0"/>
          </a:p>
        </p:txBody>
      </p:sp>
      <p:sp>
        <p:nvSpPr>
          <p:cNvPr id="5" name="Text 1"/>
          <p:cNvSpPr/>
          <p:nvPr/>
        </p:nvSpPr>
        <p:spPr>
          <a:xfrm>
            <a:off x="-4044836" y="1171575"/>
            <a:ext cx="21214080" cy="4237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36"/>
              </a:lnSpc>
              <a:buNone/>
            </a:pPr>
            <a:r>
              <a:rPr lang="en-US" sz="2400" dirty="0">
                <a:solidFill>
                  <a:srgbClr val="7B6F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Разпределена структура с ясно разделение на отговорностите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-321528" y="6391275"/>
            <a:ext cx="13441680" cy="2742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104A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Централизиран контрол • Машабируемост • Сигурност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200150" y="2095500"/>
            <a:ext cx="4023271" cy="11650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услуги:
• Auth API - аутентикация и JWT
• Data API - дървета и таксономия
• Обща SQL Server база данни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200150" y="3505200"/>
            <a:ext cx="3237458" cy="11650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Клиентски приложения:
• Node.js Web клиент
• MAUI Mobile приложение
• Без собствена база данни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200150" y="4829175"/>
            <a:ext cx="3101280" cy="11650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Комуникация:
• HTTP/HTTPS протокол
• JSON формат за данни
• JWT токени за сигурност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92" y="1640088"/>
            <a:ext cx="11472565" cy="50062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372567" y="466725"/>
            <a:ext cx="15773400" cy="5476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313"/>
              </a:lnSpc>
              <a:buNone/>
            </a:pPr>
            <a:r>
              <a:rPr lang="en-US" sz="3450" b="1" dirty="0">
                <a:solidFill>
                  <a:srgbClr val="004D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Поток на данните и комуникация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-2100754" y="1104900"/>
            <a:ext cx="17282160" cy="389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66"/>
              </a:lnSpc>
              <a:buNone/>
            </a:pPr>
            <a:r>
              <a:rPr lang="en-US" sz="2100" dirty="0">
                <a:solidFill>
                  <a:srgbClr val="796A5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Сигурна аутентикация и разделено управление на данните</a:t>
            </a:r>
            <a:endParaRPr lang="en-US" sz="2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667" y="2304157"/>
            <a:ext cx="10594777" cy="42518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1913" y="419100"/>
            <a:ext cx="12241530" cy="6801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355"/>
              </a:lnSpc>
              <a:buNone/>
            </a:pPr>
            <a:r>
              <a:rPr lang="en-US" sz="3825" b="1" dirty="0">
                <a:solidFill>
                  <a:srgbClr val="004D26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Модел на базата данни</a:t>
            </a:r>
            <a:endParaRPr lang="en-US" sz="3825" dirty="0"/>
          </a:p>
        </p:txBody>
      </p:sp>
      <p:sp>
        <p:nvSpPr>
          <p:cNvPr id="5" name="Text 1"/>
          <p:cNvSpPr/>
          <p:nvPr/>
        </p:nvSpPr>
        <p:spPr>
          <a:xfrm>
            <a:off x="1127722" y="1813620"/>
            <a:ext cx="7543800" cy="3771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6A996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Ботаническа таксономия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-2058367" y="1209675"/>
            <a:ext cx="17145000" cy="328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1875" dirty="0">
                <a:solidFill>
                  <a:srgbClr val="7B6F57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Пълна ботаническа таксономия и географски данни за дърветата</a:t>
            </a:r>
            <a:endParaRPr lang="en-US" sz="187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608" y="5061347"/>
            <a:ext cx="353467" cy="33590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016" y="4438650"/>
            <a:ext cx="329059" cy="3222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773" y="4073575"/>
            <a:ext cx="1316682" cy="148128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859" y="1673275"/>
            <a:ext cx="865584" cy="15498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161" y="1673275"/>
            <a:ext cx="1377553" cy="1556742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-46226" y="419100"/>
            <a:ext cx="12961620" cy="66868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65"/>
              </a:lnSpc>
              <a:buNone/>
            </a:pPr>
            <a:r>
              <a:rPr lang="en-US" sz="4050" b="1" dirty="0">
                <a:solidFill>
                  <a:srgbClr val="0B44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Използвани технологии</a:t>
            </a:r>
            <a:endParaRPr lang="en-US" sz="4050" dirty="0"/>
          </a:p>
        </p:txBody>
      </p:sp>
      <p:sp>
        <p:nvSpPr>
          <p:cNvPr id="9" name="Text 1"/>
          <p:cNvSpPr/>
          <p:nvPr/>
        </p:nvSpPr>
        <p:spPr>
          <a:xfrm>
            <a:off x="2809875" y="1609725"/>
            <a:ext cx="339471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b="1" dirty="0">
                <a:solidFill>
                  <a:srgbClr val="0B44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API</a:t>
            </a:r>
            <a:endParaRPr lang="en-US" sz="2025" dirty="0"/>
          </a:p>
        </p:txBody>
      </p:sp>
      <p:sp>
        <p:nvSpPr>
          <p:cNvPr id="10" name="Text 2"/>
          <p:cNvSpPr/>
          <p:nvPr/>
        </p:nvSpPr>
        <p:spPr>
          <a:xfrm>
            <a:off x="8029575" y="1609725"/>
            <a:ext cx="555498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b="1" dirty="0">
                <a:solidFill>
                  <a:srgbClr val="0B44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Мобилно приложение</a:t>
            </a:r>
            <a:endParaRPr lang="en-US" sz="2025" dirty="0"/>
          </a:p>
        </p:txBody>
      </p:sp>
      <p:sp>
        <p:nvSpPr>
          <p:cNvPr id="11" name="Text 3"/>
          <p:cNvSpPr/>
          <p:nvPr/>
        </p:nvSpPr>
        <p:spPr>
          <a:xfrm>
            <a:off x="2809875" y="3990975"/>
            <a:ext cx="308610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b="1" dirty="0">
                <a:solidFill>
                  <a:srgbClr val="0B44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Уеб клиент</a:t>
            </a:r>
            <a:endParaRPr lang="en-US" sz="2025" dirty="0"/>
          </a:p>
        </p:txBody>
      </p:sp>
      <p:sp>
        <p:nvSpPr>
          <p:cNvPr id="12" name="Text 4"/>
          <p:cNvSpPr/>
          <p:nvPr/>
        </p:nvSpPr>
        <p:spPr>
          <a:xfrm>
            <a:off x="6867525" y="3990975"/>
            <a:ext cx="7360920" cy="3360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46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Сървърна инфраструктура</a:t>
            </a:r>
            <a:endParaRPr lang="en-US" sz="2100" dirty="0"/>
          </a:p>
        </p:txBody>
      </p:sp>
      <p:sp>
        <p:nvSpPr>
          <p:cNvPr id="13" name="Text 5"/>
          <p:cNvSpPr/>
          <p:nvPr/>
        </p:nvSpPr>
        <p:spPr>
          <a:xfrm>
            <a:off x="-1979295" y="6191250"/>
            <a:ext cx="17007840" cy="276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78"/>
              </a:lnSpc>
              <a:buNone/>
            </a:pPr>
            <a:r>
              <a:rPr lang="en-US" sz="1800" b="1" i="1" dirty="0">
                <a:solidFill>
                  <a:srgbClr val="7865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Модерна, </a:t>
            </a:r>
            <a:r>
              <a:rPr lang="en-US" sz="1800" b="1" i="1" dirty="0" err="1">
                <a:solidFill>
                  <a:srgbClr val="7865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ма</a:t>
            </a:r>
            <a:r>
              <a:rPr lang="bg-BG" b="1" i="1" dirty="0">
                <a:solidFill>
                  <a:srgbClr val="7865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щ</a:t>
            </a:r>
            <a:r>
              <a:rPr lang="en-US" sz="1800" b="1" i="1" dirty="0" err="1">
                <a:solidFill>
                  <a:srgbClr val="7865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абируема</a:t>
            </a:r>
            <a:r>
              <a:rPr lang="en-US" sz="1800" b="1" i="1" dirty="0">
                <a:solidFill>
                  <a:srgbClr val="78654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архитектура с крос-платформена поддръжка</a:t>
            </a:r>
            <a:endParaRPr lang="en-US" sz="1800" dirty="0"/>
          </a:p>
        </p:txBody>
      </p:sp>
      <p:sp>
        <p:nvSpPr>
          <p:cNvPr id="14" name="Text 6"/>
          <p:cNvSpPr/>
          <p:nvPr/>
        </p:nvSpPr>
        <p:spPr>
          <a:xfrm>
            <a:off x="2809875" y="2076450"/>
            <a:ext cx="3426023" cy="1380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ASP.NET Core 8 
Entity Framework Core
JWT Authentication
SQL Server / LocalDB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8029575" y="2076450"/>
            <a:ext cx="2860328" cy="1380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.NET MAUI 9.0 
Android / iOS / Windows
SecureStorage за JWT
HttpClient интеграция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2809875" y="4423472"/>
            <a:ext cx="2996505" cy="16151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0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Node.js 18+ 
Express 4.18.2
JavaScript ES6+ </a:t>
            </a:r>
            <a:endParaRPr lang="bg-BG" sz="1725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>
              <a:lnSpc>
                <a:spcPts val="2605"/>
              </a:lnSpc>
              <a:buNone/>
            </a:pPr>
            <a:r>
              <a:rPr lang="en-US" sz="1725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localStorage</a:t>
            </a:r>
            <a:r>
              <a:rPr lang="en-US" sz="1725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725" dirty="0" err="1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управление</a:t>
            </a:r>
            <a:endParaRPr lang="bg-BG" sz="1725" dirty="0">
              <a:solidFill>
                <a:srgbClr val="00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>
              <a:lnSpc>
                <a:spcPts val="2605"/>
              </a:lnSpc>
              <a:buNone/>
            </a:pPr>
            <a:r>
              <a:rPr lang="en-US" sz="1725" dirty="0"/>
              <a:t>Axios</a:t>
            </a:r>
          </a:p>
        </p:txBody>
      </p:sp>
      <p:sp>
        <p:nvSpPr>
          <p:cNvPr id="17" name="Text 9"/>
          <p:cNvSpPr/>
          <p:nvPr/>
        </p:nvSpPr>
        <p:spPr>
          <a:xfrm>
            <a:off x="6867525" y="4438650"/>
            <a:ext cx="3248025" cy="13805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18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Ubuntu Server 24.04
Firewall защита
HTTP комуникация
REST API архитектура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59" y="5198269"/>
            <a:ext cx="5120580" cy="98062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9059" y="1961257"/>
            <a:ext cx="341263" cy="42505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82" y="4869061"/>
            <a:ext cx="390079" cy="42505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82" y="3415159"/>
            <a:ext cx="390079" cy="42505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82" y="1686967"/>
            <a:ext cx="390079" cy="43204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-1462132" y="466725"/>
            <a:ext cx="15910560" cy="5851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608"/>
              </a:lnSpc>
              <a:buNone/>
            </a:pPr>
            <a:r>
              <a:rPr lang="en-US" sz="3600" b="1" dirty="0">
                <a:solidFill>
                  <a:srgbClr val="124D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Сигурност и защита на данните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8515350" y="2038350"/>
            <a:ext cx="3680460" cy="260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124D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Мрежова защита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1266825" y="1733550"/>
            <a:ext cx="4754880" cy="2946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24D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Аутентикация</a:t>
            </a:r>
            <a:endParaRPr lang="en-US" sz="1950" dirty="0"/>
          </a:p>
        </p:txBody>
      </p:sp>
      <p:sp>
        <p:nvSpPr>
          <p:cNvPr id="11" name="Text 3"/>
          <p:cNvSpPr/>
          <p:nvPr/>
        </p:nvSpPr>
        <p:spPr>
          <a:xfrm>
            <a:off x="1266825" y="3448050"/>
            <a:ext cx="6000750" cy="283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124D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Ролево базиран достъп</a:t>
            </a:r>
            <a:endParaRPr lang="en-US" sz="1875" dirty="0"/>
          </a:p>
        </p:txBody>
      </p:sp>
      <p:sp>
        <p:nvSpPr>
          <p:cNvPr id="12" name="Text 4"/>
          <p:cNvSpPr/>
          <p:nvPr/>
        </p:nvSpPr>
        <p:spPr>
          <a:xfrm>
            <a:off x="1266825" y="4924425"/>
            <a:ext cx="5143500" cy="2833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124D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Защитени Endpoints</a:t>
            </a:r>
            <a:endParaRPr lang="en-US" sz="1875" dirty="0"/>
          </a:p>
        </p:txBody>
      </p:sp>
      <p:sp>
        <p:nvSpPr>
          <p:cNvPr id="13" name="Text 5"/>
          <p:cNvSpPr/>
          <p:nvPr/>
        </p:nvSpPr>
        <p:spPr>
          <a:xfrm>
            <a:off x="8086725" y="2495550"/>
            <a:ext cx="3746154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Ubuntu Server с Firewall
• Отворени </a:t>
            </a:r>
            <a:r>
              <a:rPr lang="en-US" sz="15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само</a:t>
            </a: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необходимите</a:t>
            </a: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портове</a:t>
            </a: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• HTTP комуникация
• CORS ограничения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1447800" y="2171700"/>
            <a:ext cx="4754881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Таен ключ от конфигурацията
• Токен се генерира при успешен логин
• Съхранение: localStorage (Web) / SecureStorage (Mobile)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1447800" y="3886200"/>
            <a:ext cx="62865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User роля: преглед и добавяне на дървета
• Admin роля: управление на потребители и таксономия
• Защитени операции изискват Bearer токен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1447800" y="5353050"/>
            <a:ext cx="477768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GET заявки без токен (публичен достъп)
• POST/PUT/DELETE само с валиден JWT
• Middleware валидация на всяка заявка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8" y="1494979"/>
            <a:ext cx="5425380" cy="41627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482" y="5165229"/>
            <a:ext cx="755898" cy="63088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0053" y="4324350"/>
            <a:ext cx="536377" cy="61719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7539" y="3480644"/>
            <a:ext cx="1048494" cy="61719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7196" y="2595042"/>
            <a:ext cx="853380" cy="671959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14375" y="400050"/>
            <a:ext cx="16459200" cy="510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004020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Ниво на сложност на разработката</a:t>
            </a:r>
            <a:endParaRPr lang="en-US" sz="3375" dirty="0"/>
          </a:p>
        </p:txBody>
      </p:sp>
      <p:sp>
        <p:nvSpPr>
          <p:cNvPr id="9" name="Text 1"/>
          <p:cNvSpPr/>
          <p:nvPr/>
        </p:nvSpPr>
        <p:spPr>
          <a:xfrm>
            <a:off x="-739140" y="1309761"/>
            <a:ext cx="7726680" cy="3195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5B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ПРОЕКТ СЪС СРЕДНА СЛОЖНОСТ</a:t>
            </a:r>
            <a:endParaRPr lang="en-US" sz="1950" dirty="0"/>
          </a:p>
        </p:txBody>
      </p:sp>
      <p:sp>
        <p:nvSpPr>
          <p:cNvPr id="10" name="Text 2"/>
          <p:cNvSpPr/>
          <p:nvPr/>
        </p:nvSpPr>
        <p:spPr>
          <a:xfrm>
            <a:off x="714375" y="2038350"/>
            <a:ext cx="6789420" cy="3059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796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Източници на сложност:</a:t>
            </a:r>
            <a:endParaRPr lang="en-US" sz="2025" dirty="0"/>
          </a:p>
        </p:txBody>
      </p:sp>
      <p:sp>
        <p:nvSpPr>
          <p:cNvPr id="11" name="Text 3"/>
          <p:cNvSpPr/>
          <p:nvPr/>
        </p:nvSpPr>
        <p:spPr>
          <a:xfrm>
            <a:off x="714375" y="2590800"/>
            <a:ext cx="4107061" cy="480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Разпределена архитектура
Три приложения работят заедно</a:t>
            </a:r>
            <a:endParaRPr lang="en-US" sz="1575" dirty="0"/>
          </a:p>
        </p:txBody>
      </p:sp>
      <p:sp>
        <p:nvSpPr>
          <p:cNvPr id="12" name="Text 4"/>
          <p:cNvSpPr/>
          <p:nvPr/>
        </p:nvSpPr>
        <p:spPr>
          <a:xfrm>
            <a:off x="714375" y="3448050"/>
            <a:ext cx="4128046" cy="480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Различни клиенти
Web (браузър) и Mobile (Android)</a:t>
            </a:r>
            <a:endParaRPr lang="en-US" sz="1575" dirty="0"/>
          </a:p>
        </p:txBody>
      </p:sp>
      <p:sp>
        <p:nvSpPr>
          <p:cNvPr id="13" name="Text 5"/>
          <p:cNvSpPr/>
          <p:nvPr/>
        </p:nvSpPr>
        <p:spPr>
          <a:xfrm>
            <a:off x="714375" y="4324350"/>
            <a:ext cx="4756696" cy="4801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Аутентикация и авторизация
JWT токени, роли, защитени endpoints</a:t>
            </a:r>
            <a:endParaRPr lang="en-US" sz="1575" dirty="0"/>
          </a:p>
        </p:txBody>
      </p:sp>
      <p:sp>
        <p:nvSpPr>
          <p:cNvPr id="14" name="Text 6"/>
          <p:cNvSpPr/>
          <p:nvPr/>
        </p:nvSpPr>
        <p:spPr>
          <a:xfrm>
            <a:off x="714375" y="5162549"/>
            <a:ext cx="4819650" cy="7456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90"/>
              </a:lnSpc>
            </a:pPr>
            <a:r>
              <a:rPr lang="en-US" sz="1575" b="1" dirty="0">
                <a:solidFill>
                  <a:srgbClr val="3D3D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Таксономия и география
</a:t>
            </a:r>
            <a:r>
              <a:rPr lang="en-US" sz="1575" b="1" dirty="0">
                <a:solidFill>
                  <a:srgbClr val="3D3D3D"/>
                </a:solidFill>
                <a:latin typeface="Montserrat" pitchFamily="34" charset="0"/>
              </a:rPr>
              <a:t>• </a:t>
            </a:r>
            <a:r>
              <a:rPr lang="bg-BG" sz="1575" b="1" dirty="0">
                <a:solidFill>
                  <a:srgbClr val="3D3D3D"/>
                </a:solidFill>
                <a:latin typeface="Montserrat" pitchFamily="34" charset="0"/>
              </a:rPr>
              <a:t>Й</a:t>
            </a:r>
            <a:r>
              <a:rPr lang="en-US" sz="1575" b="1" dirty="0" err="1">
                <a:solidFill>
                  <a:srgbClr val="3D3D3D"/>
                </a:solidFill>
                <a:latin typeface="Montserrat" pitchFamily="34" charset="0"/>
              </a:rPr>
              <a:t>ерархия</a:t>
            </a:r>
            <a:r>
              <a:rPr lang="en-US" sz="1575" b="1" dirty="0">
                <a:solidFill>
                  <a:srgbClr val="3D3D3D"/>
                </a:solidFill>
                <a:latin typeface="Montserrat" pitchFamily="34" charset="0"/>
              </a:rPr>
              <a:t> от обекти и </a:t>
            </a:r>
            <a:br>
              <a:rPr lang="bg-BG" sz="1575" b="1" dirty="0">
                <a:solidFill>
                  <a:srgbClr val="3D3D3D"/>
                </a:solidFill>
                <a:latin typeface="Montserrat" pitchFamily="34" charset="0"/>
              </a:rPr>
            </a:br>
            <a:r>
              <a:rPr lang="en-US" sz="1575" b="1" dirty="0">
                <a:solidFill>
                  <a:srgbClr val="3D3D3D"/>
                </a:solidFill>
                <a:latin typeface="Montserrat" pitchFamily="34" charset="0"/>
              </a:rPr>
              <a:t>GPS </a:t>
            </a:r>
            <a:r>
              <a:rPr lang="bg-BG" sz="1575" b="1" dirty="0">
                <a:solidFill>
                  <a:srgbClr val="3D3D3D"/>
                </a:solidFill>
                <a:latin typeface="Montserrat" pitchFamily="34" charset="0"/>
              </a:rPr>
              <a:t>картографиране</a:t>
            </a:r>
            <a:endParaRPr lang="en-US" sz="1575" b="1" dirty="0">
              <a:solidFill>
                <a:srgbClr val="3D3D3D"/>
              </a:solidFill>
              <a:latin typeface="Montserrat" pitchFamily="34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010025" y="6019800"/>
            <a:ext cx="8549580" cy="4988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63"/>
              </a:lnSpc>
              <a:buNone/>
            </a:pPr>
            <a:r>
              <a:rPr lang="en-US" sz="1650" i="1" dirty="0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Сложността не е в отделните технологии, а в тяхната интеграция и
поддържането </a:t>
            </a:r>
            <a:r>
              <a:rPr lang="en-US" sz="1650" i="1" dirty="0" err="1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на</a:t>
            </a:r>
            <a:r>
              <a:rPr lang="en-US" sz="1650" i="1" dirty="0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bg-BG" sz="1650" i="1" dirty="0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единна </a:t>
            </a:r>
            <a:r>
              <a:rPr lang="en-US" sz="1650" i="1" dirty="0" err="1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логика</a:t>
            </a:r>
            <a:r>
              <a:rPr lang="en-US" sz="1650" i="1" dirty="0">
                <a:solidFill>
                  <a:srgbClr val="3D3D3D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в различни среди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196" y="1309836"/>
            <a:ext cx="4389090" cy="21258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931194" y="466725"/>
            <a:ext cx="16973550" cy="5100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B4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Заключение и постигнати резултати</a:t>
            </a:r>
            <a:endParaRPr lang="en-US" sz="3375" dirty="0"/>
          </a:p>
        </p:txBody>
      </p:sp>
      <p:sp>
        <p:nvSpPr>
          <p:cNvPr id="5" name="Text 1"/>
          <p:cNvSpPr/>
          <p:nvPr/>
        </p:nvSpPr>
        <p:spPr>
          <a:xfrm>
            <a:off x="1143000" y="1352550"/>
            <a:ext cx="5429250" cy="3309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Успешно реализирано</a:t>
            </a:r>
            <a:endParaRPr lang="en-US" sz="1875" dirty="0"/>
          </a:p>
        </p:txBody>
      </p:sp>
      <p:sp>
        <p:nvSpPr>
          <p:cNvPr id="6" name="Text 2"/>
          <p:cNvSpPr/>
          <p:nvPr/>
        </p:nvSpPr>
        <p:spPr>
          <a:xfrm>
            <a:off x="7419975" y="3714750"/>
            <a:ext cx="6309360" cy="294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2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Възможности за развитие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200150" y="5886450"/>
            <a:ext cx="10833646" cy="5441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42"/>
              </a:lnSpc>
              <a:buNone/>
            </a:pPr>
            <a:r>
              <a:rPr lang="en-US" sz="1800" dirty="0">
                <a:solidFill>
                  <a:srgbClr val="6B8E2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LeafMap Insights демонстрира успешна интеграция на съвременни технологии
за решаване на реални екологични и образователни предизвикателства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62025" y="1885950"/>
            <a:ext cx="5357294" cy="12575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1980"/>
              </a:lnSpc>
              <a:buFont typeface="Wingdings" panose="05000000000000000000" pitchFamily="2" charset="2"/>
              <a:buChar char="§"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Модулна архитектура с разделени API услуги
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Единна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база данни с JWT автентикация
Многоплатформен достъп (Web + Mobile)
Пълен цикъл: регистрация → управление → анализ
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Йерархична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ботаническа таксономия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962025" y="3867150"/>
            <a:ext cx="48577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75" b="1" dirty="0" err="1">
                <a:solidFill>
                  <a:srgbClr val="1B4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Системата</a:t>
            </a:r>
            <a:r>
              <a:rPr lang="en-US" sz="1875" b="1" dirty="0">
                <a:solidFill>
                  <a:srgbClr val="1B4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875" b="1" dirty="0" err="1">
                <a:solidFill>
                  <a:srgbClr val="1B4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обхваща</a:t>
            </a:r>
            <a:r>
              <a:rPr lang="bg-BG" sz="1875" b="1" dirty="0">
                <a:solidFill>
                  <a:srgbClr val="1B4F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962025" y="4324350"/>
            <a:ext cx="5573911" cy="8737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2294"/>
              </a:lnSpc>
              <a:buFont typeface="Arial" panose="020B0604020202020204" pitchFamily="34" charset="0"/>
              <a:buChar char="•"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Каталогизиране с GPS 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координати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;</a:t>
            </a:r>
          </a:p>
          <a:p>
            <a:pPr marL="285750" indent="-285750">
              <a:lnSpc>
                <a:spcPts val="2294"/>
              </a:lnSpc>
              <a:buFont typeface="Arial" panose="020B0604020202020204" pitchFamily="34" charset="0"/>
              <a:buChar char="•"/>
            </a:pP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Р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олево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управление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(User/Admin)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;</a:t>
            </a:r>
          </a:p>
          <a:p>
            <a:pPr marL="285750" indent="-285750">
              <a:lnSpc>
                <a:spcPts val="2294"/>
              </a:lnSpc>
              <a:buFont typeface="Arial" panose="020B0604020202020204" pitchFamily="34" charset="0"/>
              <a:buChar char="•"/>
            </a:pP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Н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аучна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таксономия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и образователна стойност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7419975" y="4231108"/>
            <a:ext cx="4683323" cy="12575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285750" indent="-285750">
              <a:lnSpc>
                <a:spcPts val="1980"/>
              </a:lnSpc>
              <a:buFont typeface="Wingdings" panose="05000000000000000000" pitchFamily="2" charset="2"/>
              <a:buChar char="§"/>
            </a:pP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Подобрения при протоколната комуникация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Разширена таксономия и филтриране
</a:t>
            </a:r>
            <a:r>
              <a:rPr lang="en-US" sz="1600" dirty="0"/>
              <a:t> Cloud storage </a:t>
            </a:r>
            <a:r>
              <a:rPr lang="bg-BG" sz="1600" dirty="0"/>
              <a:t>и </a:t>
            </a:r>
            <a:r>
              <a:rPr lang="en-US" sz="1600" dirty="0"/>
              <a:t>CDN </a:t>
            </a:r>
            <a:r>
              <a:rPr lang="bg-BG" sz="1600" dirty="0"/>
              <a:t>за изображенията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Контейнеризация и 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обл</a:t>
            </a:r>
            <a:r>
              <a:rPr lang="bg-BG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а</a:t>
            </a:r>
            <a:r>
              <a:rPr lang="en-US" sz="165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чен</a:t>
            </a: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деплой
Автоматизирани тестове и CI/CD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64F4-386A-18BA-F7ED-46CDDF3F3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EA07B68-A6D0-7AEB-FF69-039D37F1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7A615A9-741D-8157-2D06-243B3736D1D8}"/>
              </a:ext>
            </a:extLst>
          </p:cNvPr>
          <p:cNvSpPr/>
          <p:nvPr/>
        </p:nvSpPr>
        <p:spPr>
          <a:xfrm>
            <a:off x="622635" y="3516667"/>
            <a:ext cx="7638008" cy="17747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00"/>
              </a:lnSpc>
              <a:buNone/>
            </a:pPr>
            <a:r>
              <a:rPr lang="bg-BG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БЛАГОДАРИМ</a:t>
            </a:r>
            <a:br>
              <a:rPr lang="bg-BG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bg-BG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</a:t>
            </a:r>
            <a:br>
              <a:rPr lang="bg-BG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bg-BG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ВНИМАНИЕТО</a:t>
            </a:r>
            <a:r>
              <a:rPr lang="en-US" sz="33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endParaRPr lang="en-US" sz="3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03AB0A-E1FB-8B01-B764-31182562F615}"/>
              </a:ext>
            </a:extLst>
          </p:cNvPr>
          <p:cNvSpPr/>
          <p:nvPr/>
        </p:nvSpPr>
        <p:spPr>
          <a:xfrm>
            <a:off x="436204" y="960130"/>
            <a:ext cx="11069256" cy="139256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 err="1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LeafMap</a:t>
            </a:r>
            <a:r>
              <a:rPr lang="en-US" sz="2400" b="1" dirty="0">
                <a:solidFill>
                  <a:srgbClr val="003B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Insights </a:t>
            </a:r>
            <a:r>
              <a:rPr lang="ru-RU" sz="2400" dirty="0" err="1"/>
              <a:t>представлява</a:t>
            </a:r>
            <a:r>
              <a:rPr lang="ru-RU" sz="2400" dirty="0"/>
              <a:t> </a:t>
            </a:r>
            <a:r>
              <a:rPr lang="ru-RU" sz="2400" dirty="0" err="1"/>
              <a:t>модулна</a:t>
            </a:r>
            <a:r>
              <a:rPr lang="ru-RU" sz="2400" dirty="0"/>
              <a:t> и </a:t>
            </a:r>
            <a:r>
              <a:rPr lang="ru-RU" sz="2400" dirty="0" err="1"/>
              <a:t>мащабируема</a:t>
            </a:r>
            <a:r>
              <a:rPr lang="ru-RU" sz="2400" dirty="0"/>
              <a:t> система с разделена архитектура, </a:t>
            </a:r>
            <a:r>
              <a:rPr lang="ru-RU" sz="2400" dirty="0" err="1"/>
              <a:t>сигурна</a:t>
            </a:r>
            <a:r>
              <a:rPr lang="ru-RU" sz="2400" dirty="0"/>
              <a:t> </a:t>
            </a:r>
            <a:r>
              <a:rPr lang="ru-RU" sz="2400" dirty="0" err="1"/>
              <a:t>автентикация</a:t>
            </a:r>
            <a:r>
              <a:rPr lang="ru-RU" sz="2400" dirty="0"/>
              <a:t> и </a:t>
            </a:r>
            <a:r>
              <a:rPr lang="ru-RU" sz="2400" dirty="0" err="1"/>
              <a:t>многоплатформен</a:t>
            </a:r>
            <a:r>
              <a:rPr lang="ru-RU" sz="2400" dirty="0"/>
              <a:t> </a:t>
            </a:r>
            <a:r>
              <a:rPr lang="ru-RU" sz="2400" dirty="0" err="1"/>
              <a:t>достъп</a:t>
            </a:r>
            <a:r>
              <a:rPr lang="ru-RU" sz="2400" dirty="0"/>
              <a:t>.</a:t>
            </a:r>
          </a:p>
          <a:p>
            <a:pPr algn="ctr">
              <a:lnSpc>
                <a:spcPct val="130000"/>
              </a:lnSpc>
            </a:pPr>
            <a:r>
              <a:rPr lang="ru-RU" sz="2400" dirty="0" err="1"/>
              <a:t>Проектът</a:t>
            </a:r>
            <a:r>
              <a:rPr lang="ru-RU" sz="2400" dirty="0"/>
              <a:t> </a:t>
            </a:r>
            <a:r>
              <a:rPr lang="ru-RU" sz="2400" dirty="0" err="1"/>
              <a:t>демонстрира</a:t>
            </a:r>
            <a:r>
              <a:rPr lang="ru-RU" sz="2400" dirty="0"/>
              <a:t> интеграция между </a:t>
            </a:r>
            <a:r>
              <a:rPr lang="ru-RU" sz="2400" dirty="0" err="1"/>
              <a:t>различни</a:t>
            </a:r>
            <a:r>
              <a:rPr lang="ru-RU" sz="2400" dirty="0"/>
              <a:t> технологии и </a:t>
            </a:r>
            <a:r>
              <a:rPr lang="bg-BG" sz="2400" dirty="0"/>
              <a:t>реална </a:t>
            </a:r>
            <a:br>
              <a:rPr lang="bg-BG" sz="2400" dirty="0"/>
            </a:br>
            <a:r>
              <a:rPr lang="bg-BG" sz="2400" dirty="0"/>
              <a:t>мрежова конфигурация</a:t>
            </a:r>
            <a:endParaRPr lang="ru-RU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A0F789E-9CB4-13D3-05D4-6E607A198B57}"/>
              </a:ext>
            </a:extLst>
          </p:cNvPr>
          <p:cNvSpPr/>
          <p:nvPr/>
        </p:nvSpPr>
        <p:spPr>
          <a:xfrm>
            <a:off x="452703" y="5524500"/>
            <a:ext cx="5563493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Тихомир Георгиев Петков
Мариан Петров Балев
XII клас, ПГ „Ген. 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Владимир</a:t>
            </a: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 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За</a:t>
            </a:r>
            <a:r>
              <a:rPr lang="bg-BG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и</a:t>
            </a:r>
            <a:r>
              <a:rPr lang="en-US" sz="1500" dirty="0" err="1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мов</a:t>
            </a:r>
            <a:r>
              <a:rPr lang="en-US" sz="1500" dirty="0">
                <a:solidFill>
                  <a:srgbClr val="494949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“ – гр. Сопот
Ръководител: Тоня Христова Белезирева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27BB23F-509F-DB67-0FB9-B4882B67CAAD}"/>
              </a:ext>
            </a:extLst>
          </p:cNvPr>
          <p:cNvSpPr/>
          <p:nvPr/>
        </p:nvSpPr>
        <p:spPr>
          <a:xfrm>
            <a:off x="5593209" y="5718721"/>
            <a:ext cx="7658993" cy="7201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dirty="0">
                <a:solidFill>
                  <a:srgbClr val="333333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ПРОЕКТ 765
НАЦИОНАЛНА ОЛИМПИАДА ПО ИНФОРМАЦИОННИ ТЕХНОЛОГИИ
НАПРАВЛЕНИЕ: РАЗПРЕДЕЛЕНИ ПРИЛОЖЕНИЯ</a:t>
            </a:r>
            <a:endParaRPr lang="en-US" sz="1575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582E97F-56B5-A10B-418F-0B79C4CEEC9A}"/>
              </a:ext>
            </a:extLst>
          </p:cNvPr>
          <p:cNvSpPr/>
          <p:nvPr/>
        </p:nvSpPr>
        <p:spPr>
          <a:xfrm>
            <a:off x="8788875" y="6143625"/>
            <a:ext cx="31242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500" i="1" dirty="0">
                <a:solidFill>
                  <a:srgbClr val="9E9E9E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2026 година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213374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789</Words>
  <Application>Microsoft Office PowerPoint</Application>
  <PresentationFormat>Widescreen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Merriweather Sans</vt:lpstr>
      <vt:lpstr>Montserrat</vt:lpstr>
      <vt:lpstr>Montserrat Extra</vt:lpstr>
      <vt:lpstr>Montserrat Regular</vt:lpstr>
      <vt:lpstr>Noto Sans KR</vt:lpstr>
      <vt:lpstr>Noto Sans SC</vt:lpstr>
      <vt:lpstr>OpenSans-Regular</vt:lpstr>
      <vt:lpstr>Roboto-Regular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Тоня Х. Белезирева</cp:lastModifiedBy>
  <cp:revision>4</cp:revision>
  <dcterms:created xsi:type="dcterms:W3CDTF">2026-03-01T19:00:34Z</dcterms:created>
  <dcterms:modified xsi:type="dcterms:W3CDTF">2026-03-01T20:25:27Z</dcterms:modified>
</cp:coreProperties>
</file>